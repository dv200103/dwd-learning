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56" r:id="rId3"/>
    <p:sldId id="257" r:id="rId4"/>
    <p:sldId id="260" r:id="rId5"/>
    <p:sldId id="258"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4" d="100"/>
          <a:sy n="74" d="100"/>
        </p:scale>
        <p:origin x="57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16409B0-F5D6-EAEB-C3B7-8389F8BBD7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73135927-74AE-3BAB-5760-B4B768A0F0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A87EDC91-BB8D-3150-3022-A3FD47AF5523}"/>
              </a:ext>
            </a:extLst>
          </p:cNvPr>
          <p:cNvSpPr>
            <a:spLocks noGrp="1"/>
          </p:cNvSpPr>
          <p:nvPr>
            <p:ph type="dt" sz="half" idx="10"/>
          </p:nvPr>
        </p:nvSpPr>
        <p:spPr/>
        <p:txBody>
          <a:bodyPr/>
          <a:lstStyle/>
          <a:p>
            <a:fld id="{5E2F8E66-4E91-46D0-956D-F3ADA5B048CD}" type="datetimeFigureOut">
              <a:rPr lang="en-IN" smtClean="0"/>
              <a:t>16-09-2023</a:t>
            </a:fld>
            <a:endParaRPr lang="en-IN"/>
          </a:p>
        </p:txBody>
      </p:sp>
      <p:sp>
        <p:nvSpPr>
          <p:cNvPr id="5" name="Footer Placeholder 4">
            <a:extLst>
              <a:ext uri="{FF2B5EF4-FFF2-40B4-BE49-F238E27FC236}">
                <a16:creationId xmlns:a16="http://schemas.microsoft.com/office/drawing/2014/main" xmlns="" id="{F1760B51-86ED-D94D-E2CF-16E57EA79E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8B69ACCD-1316-1BC6-DA45-06F5B0DBD788}"/>
              </a:ext>
            </a:extLst>
          </p:cNvPr>
          <p:cNvSpPr>
            <a:spLocks noGrp="1"/>
          </p:cNvSpPr>
          <p:nvPr>
            <p:ph type="sldNum" sz="quarter" idx="12"/>
          </p:nvPr>
        </p:nvSpPr>
        <p:spPr/>
        <p:txBody>
          <a:bodyPr/>
          <a:lstStyle/>
          <a:p>
            <a:fld id="{5E665AAC-2B1E-4672-B553-37001623DB89}" type="slidenum">
              <a:rPr lang="en-IN" smtClean="0"/>
              <a:t>‹#›</a:t>
            </a:fld>
            <a:endParaRPr lang="en-IN"/>
          </a:p>
        </p:txBody>
      </p:sp>
    </p:spTree>
    <p:extLst>
      <p:ext uri="{BB962C8B-B14F-4D97-AF65-F5344CB8AC3E}">
        <p14:creationId xmlns:p14="http://schemas.microsoft.com/office/powerpoint/2010/main" val="2867862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2093BE2-79C3-D0EA-13F8-813DE5535E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171C54E5-29AC-8B5C-AAAD-5D8A239718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DDF25F51-1314-93F1-4BEC-DF914EDE68FE}"/>
              </a:ext>
            </a:extLst>
          </p:cNvPr>
          <p:cNvSpPr>
            <a:spLocks noGrp="1"/>
          </p:cNvSpPr>
          <p:nvPr>
            <p:ph type="dt" sz="half" idx="10"/>
          </p:nvPr>
        </p:nvSpPr>
        <p:spPr/>
        <p:txBody>
          <a:bodyPr/>
          <a:lstStyle/>
          <a:p>
            <a:fld id="{5E2F8E66-4E91-46D0-956D-F3ADA5B048CD}" type="datetimeFigureOut">
              <a:rPr lang="en-IN" smtClean="0"/>
              <a:t>16-09-2023</a:t>
            </a:fld>
            <a:endParaRPr lang="en-IN"/>
          </a:p>
        </p:txBody>
      </p:sp>
      <p:sp>
        <p:nvSpPr>
          <p:cNvPr id="5" name="Footer Placeholder 4">
            <a:extLst>
              <a:ext uri="{FF2B5EF4-FFF2-40B4-BE49-F238E27FC236}">
                <a16:creationId xmlns:a16="http://schemas.microsoft.com/office/drawing/2014/main" xmlns="" id="{E6472D9F-B417-1E8E-7260-3FBD49B1A3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BE3DDA3A-78BB-917B-BFC4-41593B01B1EB}"/>
              </a:ext>
            </a:extLst>
          </p:cNvPr>
          <p:cNvSpPr>
            <a:spLocks noGrp="1"/>
          </p:cNvSpPr>
          <p:nvPr>
            <p:ph type="sldNum" sz="quarter" idx="12"/>
          </p:nvPr>
        </p:nvSpPr>
        <p:spPr/>
        <p:txBody>
          <a:bodyPr/>
          <a:lstStyle/>
          <a:p>
            <a:fld id="{5E665AAC-2B1E-4672-B553-37001623DB89}" type="slidenum">
              <a:rPr lang="en-IN" smtClean="0"/>
              <a:t>‹#›</a:t>
            </a:fld>
            <a:endParaRPr lang="en-IN"/>
          </a:p>
        </p:txBody>
      </p:sp>
    </p:spTree>
    <p:extLst>
      <p:ext uri="{BB962C8B-B14F-4D97-AF65-F5344CB8AC3E}">
        <p14:creationId xmlns:p14="http://schemas.microsoft.com/office/powerpoint/2010/main" val="1889820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CBC04A-8F0C-0F9D-2F55-A995AEFECF3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EAE34845-32EE-99A9-8D2A-CC7957056F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74528B3B-374F-721C-DB44-FCB78626E579}"/>
              </a:ext>
            </a:extLst>
          </p:cNvPr>
          <p:cNvSpPr>
            <a:spLocks noGrp="1"/>
          </p:cNvSpPr>
          <p:nvPr>
            <p:ph type="dt" sz="half" idx="10"/>
          </p:nvPr>
        </p:nvSpPr>
        <p:spPr/>
        <p:txBody>
          <a:bodyPr/>
          <a:lstStyle/>
          <a:p>
            <a:fld id="{5E2F8E66-4E91-46D0-956D-F3ADA5B048CD}" type="datetimeFigureOut">
              <a:rPr lang="en-IN" smtClean="0"/>
              <a:t>16-09-2023</a:t>
            </a:fld>
            <a:endParaRPr lang="en-IN"/>
          </a:p>
        </p:txBody>
      </p:sp>
      <p:sp>
        <p:nvSpPr>
          <p:cNvPr id="5" name="Footer Placeholder 4">
            <a:extLst>
              <a:ext uri="{FF2B5EF4-FFF2-40B4-BE49-F238E27FC236}">
                <a16:creationId xmlns:a16="http://schemas.microsoft.com/office/drawing/2014/main" xmlns="" id="{41F20BD7-B3AC-B18E-E663-696F20081C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88724F19-1B49-337E-B6B2-3B0AF75CDABC}"/>
              </a:ext>
            </a:extLst>
          </p:cNvPr>
          <p:cNvSpPr>
            <a:spLocks noGrp="1"/>
          </p:cNvSpPr>
          <p:nvPr>
            <p:ph type="sldNum" sz="quarter" idx="12"/>
          </p:nvPr>
        </p:nvSpPr>
        <p:spPr/>
        <p:txBody>
          <a:bodyPr/>
          <a:lstStyle/>
          <a:p>
            <a:fld id="{5E665AAC-2B1E-4672-B553-37001623DB89}" type="slidenum">
              <a:rPr lang="en-IN" smtClean="0"/>
              <a:t>‹#›</a:t>
            </a:fld>
            <a:endParaRPr lang="en-IN"/>
          </a:p>
        </p:txBody>
      </p:sp>
    </p:spTree>
    <p:extLst>
      <p:ext uri="{BB962C8B-B14F-4D97-AF65-F5344CB8AC3E}">
        <p14:creationId xmlns:p14="http://schemas.microsoft.com/office/powerpoint/2010/main" val="1657304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D710F4B-31FB-33C6-8EC8-9A275D9E572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62A28BB0-BB13-466F-F3F9-5585BD9A049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299C391F-8A39-0A66-1837-5FD459221A6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F26219E6-E251-2448-A5B1-45F1C4DBA794}"/>
              </a:ext>
            </a:extLst>
          </p:cNvPr>
          <p:cNvSpPr>
            <a:spLocks noGrp="1"/>
          </p:cNvSpPr>
          <p:nvPr>
            <p:ph type="dt" sz="half" idx="10"/>
          </p:nvPr>
        </p:nvSpPr>
        <p:spPr/>
        <p:txBody>
          <a:bodyPr/>
          <a:lstStyle/>
          <a:p>
            <a:fld id="{5E2F8E66-4E91-46D0-956D-F3ADA5B048CD}" type="datetimeFigureOut">
              <a:rPr lang="en-IN" smtClean="0"/>
              <a:t>16-09-2023</a:t>
            </a:fld>
            <a:endParaRPr lang="en-IN"/>
          </a:p>
        </p:txBody>
      </p:sp>
      <p:sp>
        <p:nvSpPr>
          <p:cNvPr id="6" name="Footer Placeholder 5">
            <a:extLst>
              <a:ext uri="{FF2B5EF4-FFF2-40B4-BE49-F238E27FC236}">
                <a16:creationId xmlns:a16="http://schemas.microsoft.com/office/drawing/2014/main" xmlns="" id="{2260E723-1D64-7B9A-AA3B-9361DA5E08E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B6B32AA1-C97C-E5C9-DA1C-C2897713DCBA}"/>
              </a:ext>
            </a:extLst>
          </p:cNvPr>
          <p:cNvSpPr>
            <a:spLocks noGrp="1"/>
          </p:cNvSpPr>
          <p:nvPr>
            <p:ph type="sldNum" sz="quarter" idx="12"/>
          </p:nvPr>
        </p:nvSpPr>
        <p:spPr/>
        <p:txBody>
          <a:bodyPr/>
          <a:lstStyle/>
          <a:p>
            <a:fld id="{5E665AAC-2B1E-4672-B553-37001623DB89}" type="slidenum">
              <a:rPr lang="en-IN" smtClean="0"/>
              <a:t>‹#›</a:t>
            </a:fld>
            <a:endParaRPr lang="en-IN"/>
          </a:p>
        </p:txBody>
      </p:sp>
    </p:spTree>
    <p:extLst>
      <p:ext uri="{BB962C8B-B14F-4D97-AF65-F5344CB8AC3E}">
        <p14:creationId xmlns:p14="http://schemas.microsoft.com/office/powerpoint/2010/main" val="1887109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5E5F9A4-AB93-49A8-8F8F-D69D3F8E265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97BE5C03-4D04-81D3-9F6F-DD856E7E6F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6CA6DAB0-211A-457B-8E9D-43FA459589B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A2DCC22C-438B-1007-079F-10EE8DE634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8D1CBE75-D457-22B4-80DA-4F8E16661B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11C834C4-D997-641A-7982-94766136BA9B}"/>
              </a:ext>
            </a:extLst>
          </p:cNvPr>
          <p:cNvSpPr>
            <a:spLocks noGrp="1"/>
          </p:cNvSpPr>
          <p:nvPr>
            <p:ph type="dt" sz="half" idx="10"/>
          </p:nvPr>
        </p:nvSpPr>
        <p:spPr/>
        <p:txBody>
          <a:bodyPr/>
          <a:lstStyle/>
          <a:p>
            <a:fld id="{5E2F8E66-4E91-46D0-956D-F3ADA5B048CD}" type="datetimeFigureOut">
              <a:rPr lang="en-IN" smtClean="0"/>
              <a:t>16-09-2023</a:t>
            </a:fld>
            <a:endParaRPr lang="en-IN"/>
          </a:p>
        </p:txBody>
      </p:sp>
      <p:sp>
        <p:nvSpPr>
          <p:cNvPr id="8" name="Footer Placeholder 7">
            <a:extLst>
              <a:ext uri="{FF2B5EF4-FFF2-40B4-BE49-F238E27FC236}">
                <a16:creationId xmlns:a16="http://schemas.microsoft.com/office/drawing/2014/main" xmlns="" id="{B5B9276C-F8BB-72FF-54F9-7571769E8A4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D21036E5-4686-92D6-955B-906033587660}"/>
              </a:ext>
            </a:extLst>
          </p:cNvPr>
          <p:cNvSpPr>
            <a:spLocks noGrp="1"/>
          </p:cNvSpPr>
          <p:nvPr>
            <p:ph type="sldNum" sz="quarter" idx="12"/>
          </p:nvPr>
        </p:nvSpPr>
        <p:spPr/>
        <p:txBody>
          <a:bodyPr/>
          <a:lstStyle/>
          <a:p>
            <a:fld id="{5E665AAC-2B1E-4672-B553-37001623DB89}" type="slidenum">
              <a:rPr lang="en-IN" smtClean="0"/>
              <a:t>‹#›</a:t>
            </a:fld>
            <a:endParaRPr lang="en-IN"/>
          </a:p>
        </p:txBody>
      </p:sp>
    </p:spTree>
    <p:extLst>
      <p:ext uri="{BB962C8B-B14F-4D97-AF65-F5344CB8AC3E}">
        <p14:creationId xmlns:p14="http://schemas.microsoft.com/office/powerpoint/2010/main" val="2232264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2B0B35-2791-C615-8A83-95A4143D212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6A41A071-1824-2DF2-6471-FFD2903F7B80}"/>
              </a:ext>
            </a:extLst>
          </p:cNvPr>
          <p:cNvSpPr>
            <a:spLocks noGrp="1"/>
          </p:cNvSpPr>
          <p:nvPr>
            <p:ph type="dt" sz="half" idx="10"/>
          </p:nvPr>
        </p:nvSpPr>
        <p:spPr/>
        <p:txBody>
          <a:bodyPr/>
          <a:lstStyle/>
          <a:p>
            <a:fld id="{5E2F8E66-4E91-46D0-956D-F3ADA5B048CD}" type="datetimeFigureOut">
              <a:rPr lang="en-IN" smtClean="0"/>
              <a:t>16-09-2023</a:t>
            </a:fld>
            <a:endParaRPr lang="en-IN"/>
          </a:p>
        </p:txBody>
      </p:sp>
      <p:sp>
        <p:nvSpPr>
          <p:cNvPr id="4" name="Footer Placeholder 3">
            <a:extLst>
              <a:ext uri="{FF2B5EF4-FFF2-40B4-BE49-F238E27FC236}">
                <a16:creationId xmlns:a16="http://schemas.microsoft.com/office/drawing/2014/main" xmlns="" id="{C1AA20CC-AA48-2463-B230-2855E0DCED9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083686CE-CB56-7B1C-EBDD-497FAD1CB48C}"/>
              </a:ext>
            </a:extLst>
          </p:cNvPr>
          <p:cNvSpPr>
            <a:spLocks noGrp="1"/>
          </p:cNvSpPr>
          <p:nvPr>
            <p:ph type="sldNum" sz="quarter" idx="12"/>
          </p:nvPr>
        </p:nvSpPr>
        <p:spPr/>
        <p:txBody>
          <a:bodyPr/>
          <a:lstStyle/>
          <a:p>
            <a:fld id="{5E665AAC-2B1E-4672-B553-37001623DB89}" type="slidenum">
              <a:rPr lang="en-IN" smtClean="0"/>
              <a:t>‹#›</a:t>
            </a:fld>
            <a:endParaRPr lang="en-IN"/>
          </a:p>
        </p:txBody>
      </p:sp>
    </p:spTree>
    <p:extLst>
      <p:ext uri="{BB962C8B-B14F-4D97-AF65-F5344CB8AC3E}">
        <p14:creationId xmlns:p14="http://schemas.microsoft.com/office/powerpoint/2010/main" val="16856907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33FBEAD5-8238-DF62-24B7-8BA2BEEC57F0}"/>
              </a:ext>
            </a:extLst>
          </p:cNvPr>
          <p:cNvSpPr>
            <a:spLocks noGrp="1"/>
          </p:cNvSpPr>
          <p:nvPr>
            <p:ph type="dt" sz="half" idx="10"/>
          </p:nvPr>
        </p:nvSpPr>
        <p:spPr/>
        <p:txBody>
          <a:bodyPr/>
          <a:lstStyle/>
          <a:p>
            <a:fld id="{5E2F8E66-4E91-46D0-956D-F3ADA5B048CD}" type="datetimeFigureOut">
              <a:rPr lang="en-IN" smtClean="0"/>
              <a:t>16-09-2023</a:t>
            </a:fld>
            <a:endParaRPr lang="en-IN"/>
          </a:p>
        </p:txBody>
      </p:sp>
      <p:sp>
        <p:nvSpPr>
          <p:cNvPr id="3" name="Footer Placeholder 2">
            <a:extLst>
              <a:ext uri="{FF2B5EF4-FFF2-40B4-BE49-F238E27FC236}">
                <a16:creationId xmlns:a16="http://schemas.microsoft.com/office/drawing/2014/main" xmlns="" id="{BCABBC24-F22E-CA8E-9A62-AE2CCB0D245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974938FD-B502-C7B5-111A-300584C9AF32}"/>
              </a:ext>
            </a:extLst>
          </p:cNvPr>
          <p:cNvSpPr>
            <a:spLocks noGrp="1"/>
          </p:cNvSpPr>
          <p:nvPr>
            <p:ph type="sldNum" sz="quarter" idx="12"/>
          </p:nvPr>
        </p:nvSpPr>
        <p:spPr/>
        <p:txBody>
          <a:bodyPr/>
          <a:lstStyle/>
          <a:p>
            <a:fld id="{5E665AAC-2B1E-4672-B553-37001623DB89}" type="slidenum">
              <a:rPr lang="en-IN" smtClean="0"/>
              <a:t>‹#›</a:t>
            </a:fld>
            <a:endParaRPr lang="en-IN"/>
          </a:p>
        </p:txBody>
      </p:sp>
    </p:spTree>
    <p:extLst>
      <p:ext uri="{BB962C8B-B14F-4D97-AF65-F5344CB8AC3E}">
        <p14:creationId xmlns:p14="http://schemas.microsoft.com/office/powerpoint/2010/main" val="42047192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F902445-AC50-976A-7ACB-0BD7135FD7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9974CBFC-56D7-9C7E-9CA7-095B0AD990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BB39FAA9-2A47-0C41-476D-190467D6E2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F6C979A3-3880-7FD7-DB50-4D4C4D70FA53}"/>
              </a:ext>
            </a:extLst>
          </p:cNvPr>
          <p:cNvSpPr>
            <a:spLocks noGrp="1"/>
          </p:cNvSpPr>
          <p:nvPr>
            <p:ph type="dt" sz="half" idx="10"/>
          </p:nvPr>
        </p:nvSpPr>
        <p:spPr/>
        <p:txBody>
          <a:bodyPr/>
          <a:lstStyle/>
          <a:p>
            <a:fld id="{5E2F8E66-4E91-46D0-956D-F3ADA5B048CD}" type="datetimeFigureOut">
              <a:rPr lang="en-IN" smtClean="0"/>
              <a:t>16-09-2023</a:t>
            </a:fld>
            <a:endParaRPr lang="en-IN"/>
          </a:p>
        </p:txBody>
      </p:sp>
      <p:sp>
        <p:nvSpPr>
          <p:cNvPr id="6" name="Footer Placeholder 5">
            <a:extLst>
              <a:ext uri="{FF2B5EF4-FFF2-40B4-BE49-F238E27FC236}">
                <a16:creationId xmlns:a16="http://schemas.microsoft.com/office/drawing/2014/main" xmlns="" id="{54588CC2-DE63-49F2-8D0F-E479B30A9D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FB8B1731-AEB4-7CD1-FA92-8F8FC67D7552}"/>
              </a:ext>
            </a:extLst>
          </p:cNvPr>
          <p:cNvSpPr>
            <a:spLocks noGrp="1"/>
          </p:cNvSpPr>
          <p:nvPr>
            <p:ph type="sldNum" sz="quarter" idx="12"/>
          </p:nvPr>
        </p:nvSpPr>
        <p:spPr/>
        <p:txBody>
          <a:bodyPr/>
          <a:lstStyle/>
          <a:p>
            <a:fld id="{5E665AAC-2B1E-4672-B553-37001623DB89}" type="slidenum">
              <a:rPr lang="en-IN" smtClean="0"/>
              <a:t>‹#›</a:t>
            </a:fld>
            <a:endParaRPr lang="en-IN"/>
          </a:p>
        </p:txBody>
      </p:sp>
    </p:spTree>
    <p:extLst>
      <p:ext uri="{BB962C8B-B14F-4D97-AF65-F5344CB8AC3E}">
        <p14:creationId xmlns:p14="http://schemas.microsoft.com/office/powerpoint/2010/main" val="347031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AF4893-1880-82CA-2689-EB626CEBB4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68251D2A-0A97-E496-539D-6F614F0FCD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F7DBDEDC-DFFF-E191-432C-FC3BF87986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A2AF0C75-CD23-D73C-C3E5-DEAFEBF69279}"/>
              </a:ext>
            </a:extLst>
          </p:cNvPr>
          <p:cNvSpPr>
            <a:spLocks noGrp="1"/>
          </p:cNvSpPr>
          <p:nvPr>
            <p:ph type="dt" sz="half" idx="10"/>
          </p:nvPr>
        </p:nvSpPr>
        <p:spPr/>
        <p:txBody>
          <a:bodyPr/>
          <a:lstStyle/>
          <a:p>
            <a:fld id="{5E2F8E66-4E91-46D0-956D-F3ADA5B048CD}" type="datetimeFigureOut">
              <a:rPr lang="en-IN" smtClean="0"/>
              <a:t>16-09-2023</a:t>
            </a:fld>
            <a:endParaRPr lang="en-IN"/>
          </a:p>
        </p:txBody>
      </p:sp>
      <p:sp>
        <p:nvSpPr>
          <p:cNvPr id="6" name="Footer Placeholder 5">
            <a:extLst>
              <a:ext uri="{FF2B5EF4-FFF2-40B4-BE49-F238E27FC236}">
                <a16:creationId xmlns:a16="http://schemas.microsoft.com/office/drawing/2014/main" xmlns="" id="{5FAC5181-726D-8785-D21E-AEA528A90CE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8C93E8AF-C80A-F98C-29C6-8B2F4F5584FB}"/>
              </a:ext>
            </a:extLst>
          </p:cNvPr>
          <p:cNvSpPr>
            <a:spLocks noGrp="1"/>
          </p:cNvSpPr>
          <p:nvPr>
            <p:ph type="sldNum" sz="quarter" idx="12"/>
          </p:nvPr>
        </p:nvSpPr>
        <p:spPr/>
        <p:txBody>
          <a:bodyPr/>
          <a:lstStyle/>
          <a:p>
            <a:fld id="{5E665AAC-2B1E-4672-B553-37001623DB89}" type="slidenum">
              <a:rPr lang="en-IN" smtClean="0"/>
              <a:t>‹#›</a:t>
            </a:fld>
            <a:endParaRPr lang="en-IN"/>
          </a:p>
        </p:txBody>
      </p:sp>
    </p:spTree>
    <p:extLst>
      <p:ext uri="{BB962C8B-B14F-4D97-AF65-F5344CB8AC3E}">
        <p14:creationId xmlns:p14="http://schemas.microsoft.com/office/powerpoint/2010/main" val="2913861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B36B54-692B-5B06-46AA-D3AA905686F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DF05681C-ED3C-C99A-7014-0168BB1AE98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D66FE755-E04D-AEDD-5573-348926532321}"/>
              </a:ext>
            </a:extLst>
          </p:cNvPr>
          <p:cNvSpPr>
            <a:spLocks noGrp="1"/>
          </p:cNvSpPr>
          <p:nvPr>
            <p:ph type="dt" sz="half" idx="10"/>
          </p:nvPr>
        </p:nvSpPr>
        <p:spPr/>
        <p:txBody>
          <a:bodyPr/>
          <a:lstStyle/>
          <a:p>
            <a:fld id="{5E2F8E66-4E91-46D0-956D-F3ADA5B048CD}" type="datetimeFigureOut">
              <a:rPr lang="en-IN" smtClean="0"/>
              <a:t>16-09-2023</a:t>
            </a:fld>
            <a:endParaRPr lang="en-IN"/>
          </a:p>
        </p:txBody>
      </p:sp>
      <p:sp>
        <p:nvSpPr>
          <p:cNvPr id="5" name="Footer Placeholder 4">
            <a:extLst>
              <a:ext uri="{FF2B5EF4-FFF2-40B4-BE49-F238E27FC236}">
                <a16:creationId xmlns:a16="http://schemas.microsoft.com/office/drawing/2014/main" xmlns="" id="{AF360912-F6C6-C2D0-544F-8C0D7EB7A6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2913AC09-326C-8BFF-748B-B16EC0ECAA8D}"/>
              </a:ext>
            </a:extLst>
          </p:cNvPr>
          <p:cNvSpPr>
            <a:spLocks noGrp="1"/>
          </p:cNvSpPr>
          <p:nvPr>
            <p:ph type="sldNum" sz="quarter" idx="12"/>
          </p:nvPr>
        </p:nvSpPr>
        <p:spPr/>
        <p:txBody>
          <a:bodyPr/>
          <a:lstStyle/>
          <a:p>
            <a:fld id="{5E665AAC-2B1E-4672-B553-37001623DB89}" type="slidenum">
              <a:rPr lang="en-IN" smtClean="0"/>
              <a:t>‹#›</a:t>
            </a:fld>
            <a:endParaRPr lang="en-IN"/>
          </a:p>
        </p:txBody>
      </p:sp>
    </p:spTree>
    <p:extLst>
      <p:ext uri="{BB962C8B-B14F-4D97-AF65-F5344CB8AC3E}">
        <p14:creationId xmlns:p14="http://schemas.microsoft.com/office/powerpoint/2010/main" val="2526126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D9A3D09-5D2D-64AC-DC90-C3158C761AC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65F934D7-3066-65E5-1C23-9B5AEEB0AB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B83A299E-677D-D376-2A18-2A403C184182}"/>
              </a:ext>
            </a:extLst>
          </p:cNvPr>
          <p:cNvSpPr>
            <a:spLocks noGrp="1"/>
          </p:cNvSpPr>
          <p:nvPr>
            <p:ph type="dt" sz="half" idx="10"/>
          </p:nvPr>
        </p:nvSpPr>
        <p:spPr/>
        <p:txBody>
          <a:bodyPr/>
          <a:lstStyle/>
          <a:p>
            <a:fld id="{5E2F8E66-4E91-46D0-956D-F3ADA5B048CD}" type="datetimeFigureOut">
              <a:rPr lang="en-IN" smtClean="0"/>
              <a:t>16-09-2023</a:t>
            </a:fld>
            <a:endParaRPr lang="en-IN"/>
          </a:p>
        </p:txBody>
      </p:sp>
      <p:sp>
        <p:nvSpPr>
          <p:cNvPr id="5" name="Footer Placeholder 4">
            <a:extLst>
              <a:ext uri="{FF2B5EF4-FFF2-40B4-BE49-F238E27FC236}">
                <a16:creationId xmlns:a16="http://schemas.microsoft.com/office/drawing/2014/main" xmlns="" id="{7446AE56-C278-B47B-33E8-C0842A6A4F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1F135389-AE63-7F05-AF82-F9AA1929799C}"/>
              </a:ext>
            </a:extLst>
          </p:cNvPr>
          <p:cNvSpPr>
            <a:spLocks noGrp="1"/>
          </p:cNvSpPr>
          <p:nvPr>
            <p:ph type="sldNum" sz="quarter" idx="12"/>
          </p:nvPr>
        </p:nvSpPr>
        <p:spPr/>
        <p:txBody>
          <a:bodyPr/>
          <a:lstStyle/>
          <a:p>
            <a:fld id="{5E665AAC-2B1E-4672-B553-37001623DB89}" type="slidenum">
              <a:rPr lang="en-IN" smtClean="0"/>
              <a:t>‹#›</a:t>
            </a:fld>
            <a:endParaRPr lang="en-IN"/>
          </a:p>
        </p:txBody>
      </p:sp>
    </p:spTree>
    <p:extLst>
      <p:ext uri="{BB962C8B-B14F-4D97-AF65-F5344CB8AC3E}">
        <p14:creationId xmlns:p14="http://schemas.microsoft.com/office/powerpoint/2010/main" val="3955956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CDD8FD6A-10CB-C1BE-9F9E-F4D3244B51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33A8DBB9-8029-13E9-17A7-B3D4C7B6F9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C25BB58B-5473-286E-CCD3-4AAAF6EB3C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2F8E66-4E91-46D0-956D-F3ADA5B048CD}" type="datetimeFigureOut">
              <a:rPr lang="en-IN" smtClean="0"/>
              <a:t>16-09-2023</a:t>
            </a:fld>
            <a:endParaRPr lang="en-IN"/>
          </a:p>
        </p:txBody>
      </p:sp>
      <p:sp>
        <p:nvSpPr>
          <p:cNvPr id="5" name="Footer Placeholder 4">
            <a:extLst>
              <a:ext uri="{FF2B5EF4-FFF2-40B4-BE49-F238E27FC236}">
                <a16:creationId xmlns:a16="http://schemas.microsoft.com/office/drawing/2014/main" xmlns="" id="{1A97EF95-B5AD-5FD5-CA22-E1391D86AB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1DCBA95F-C19B-1318-F30F-923467A189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665AAC-2B1E-4672-B553-37001623DB89}" type="slidenum">
              <a:rPr lang="en-IN" smtClean="0"/>
              <a:t>‹#›</a:t>
            </a:fld>
            <a:endParaRPr lang="en-IN"/>
          </a:p>
        </p:txBody>
      </p:sp>
    </p:spTree>
    <p:extLst>
      <p:ext uri="{BB962C8B-B14F-4D97-AF65-F5344CB8AC3E}">
        <p14:creationId xmlns:p14="http://schemas.microsoft.com/office/powerpoint/2010/main" val="18150026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5C41D081-08F5-0ABD-7837-D9EBA12B847F}"/>
              </a:ext>
            </a:extLst>
          </p:cNvPr>
          <p:cNvSpPr>
            <a:spLocks noGrp="1"/>
          </p:cNvSpPr>
          <p:nvPr>
            <p:ph type="ctrTitle"/>
          </p:nvPr>
        </p:nvSpPr>
        <p:spPr>
          <a:xfrm>
            <a:off x="1953208" y="2150772"/>
            <a:ext cx="8285583" cy="1840397"/>
          </a:xfrm>
          <a:blipFill>
            <a:blip r:embed="rId2"/>
            <a:tile tx="0" ty="0" sx="100000" sy="100000" flip="none" algn="tl"/>
          </a:blipFill>
          <a:ln>
            <a:solidFill>
              <a:srgbClr val="FF0000"/>
            </a:solidFill>
          </a:ln>
          <a:effectLst>
            <a:glow rad="139700">
              <a:schemeClr val="accent4">
                <a:satMod val="175000"/>
                <a:alpha val="40000"/>
              </a:schemeClr>
            </a:glow>
            <a:outerShdw blurRad="50800" dist="38100" dir="10800000" algn="r" rotWithShape="0">
              <a:prstClr val="black">
                <a:alpha val="40000"/>
              </a:prstClr>
            </a:outerShdw>
          </a:effectLst>
        </p:spPr>
        <p:txBody>
          <a:bodyPr>
            <a:noAutofit/>
          </a:bodyPr>
          <a:lstStyle/>
          <a:p>
            <a:r>
              <a:rPr lang="en-IN" sz="4400" b="1" i="0" dirty="0">
                <a:effectLst/>
                <a:latin typeface="-apple-system"/>
              </a:rPr>
              <a:t>Problem Statement with Examples</a:t>
            </a:r>
            <a:endParaRPr lang="en-IN" sz="4400" dirty="0"/>
          </a:p>
        </p:txBody>
      </p:sp>
    </p:spTree>
    <p:extLst>
      <p:ext uri="{BB962C8B-B14F-4D97-AF65-F5344CB8AC3E}">
        <p14:creationId xmlns:p14="http://schemas.microsoft.com/office/powerpoint/2010/main" val="9391099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E89F825-455A-7BE3-9ED3-3B3E76428E6A}"/>
              </a:ext>
            </a:extLst>
          </p:cNvPr>
          <p:cNvSpPr>
            <a:spLocks noGrp="1"/>
          </p:cNvSpPr>
          <p:nvPr>
            <p:ph type="ctrTitle"/>
          </p:nvPr>
        </p:nvSpPr>
        <p:spPr>
          <a:xfrm>
            <a:off x="1" y="0"/>
            <a:ext cx="12192000" cy="6858000"/>
          </a:xfrm>
          <a:solidFill>
            <a:schemeClr val="accent2">
              <a:lumMod val="20000"/>
              <a:lumOff val="80000"/>
            </a:schemeClr>
          </a:solidFill>
          <a:effectLst>
            <a:outerShdw blurRad="50800" dist="38100" dir="5400000" algn="t" rotWithShape="0">
              <a:prstClr val="black">
                <a:alpha val="40000"/>
              </a:prstClr>
            </a:outerShdw>
          </a:effectLst>
        </p:spPr>
        <p:txBody>
          <a:bodyPr>
            <a:noAutofit/>
          </a:bodyPr>
          <a:lstStyle/>
          <a:p>
            <a:pPr fontAlgn="auto"/>
            <a:r>
              <a:rPr lang="en-US" sz="2800" b="1" i="0" dirty="0">
                <a:effectLst/>
                <a:latin typeface="-apple-system"/>
              </a:rPr>
              <a:t>Why is a Problem Statement Important?</a:t>
            </a:r>
            <a:br>
              <a:rPr lang="en-US" sz="2800" b="1" i="0" dirty="0">
                <a:effectLst/>
                <a:latin typeface="-apple-system"/>
              </a:rPr>
            </a:br>
            <a:r>
              <a:rPr lang="en-US" sz="2800" b="1" i="0" dirty="0">
                <a:effectLst/>
                <a:latin typeface="-apple-system"/>
              </a:rPr>
              <a:t/>
            </a:r>
            <a:br>
              <a:rPr lang="en-US" sz="2800" b="1" i="0" dirty="0">
                <a:effectLst/>
                <a:latin typeface="-apple-system"/>
              </a:rPr>
            </a:br>
            <a:r>
              <a:rPr lang="en-US" sz="2800" b="0" i="0" dirty="0">
                <a:effectLst/>
                <a:latin typeface="-apple-system"/>
              </a:rPr>
              <a:t>A problem statement is crucial because, it:</a:t>
            </a:r>
            <a:br>
              <a:rPr lang="en-US" sz="2800" b="0" i="0" dirty="0">
                <a:effectLst/>
                <a:latin typeface="-apple-system"/>
              </a:rPr>
            </a:br>
            <a:r>
              <a:rPr lang="en-US" sz="2800" dirty="0">
                <a:effectLst/>
              </a:rPr>
              <a:t>Defines the objectives of the project</a:t>
            </a:r>
            <a:br>
              <a:rPr lang="en-US" sz="2800" dirty="0">
                <a:effectLst/>
              </a:rPr>
            </a:br>
            <a:r>
              <a:rPr lang="en-US" sz="2800" dirty="0">
                <a:effectLst/>
              </a:rPr>
              <a:t>Sets the scope of the project</a:t>
            </a:r>
            <a:br>
              <a:rPr lang="en-US" sz="2800" dirty="0">
                <a:effectLst/>
              </a:rPr>
            </a:br>
            <a:r>
              <a:rPr lang="en-US" sz="2800" dirty="0">
                <a:effectLst/>
              </a:rPr>
              <a:t>Provides a clear direction for the analysis</a:t>
            </a:r>
            <a:br>
              <a:rPr lang="en-US" sz="2800" dirty="0">
                <a:effectLst/>
              </a:rPr>
            </a:br>
            <a:r>
              <a:rPr lang="en-US" sz="2800" dirty="0">
                <a:effectLst/>
              </a:rPr>
              <a:t>Helps to focus on the relevant data</a:t>
            </a:r>
            <a:br>
              <a:rPr lang="en-US" sz="2800" dirty="0">
                <a:effectLst/>
              </a:rPr>
            </a:br>
            <a:r>
              <a:rPr lang="en-US" sz="2800" dirty="0">
                <a:effectLst/>
              </a:rPr>
              <a:t>Guides the selection of appropriate methods and tools</a:t>
            </a:r>
            <a:br>
              <a:rPr lang="en-US" sz="2800" dirty="0">
                <a:effectLst/>
              </a:rPr>
            </a:br>
            <a:r>
              <a:rPr lang="en-US" sz="2800" dirty="0">
                <a:effectLst/>
              </a:rPr>
              <a:t>Helps to measure the success of the project</a:t>
            </a:r>
            <a:br>
              <a:rPr lang="en-US" sz="2800" dirty="0">
                <a:effectLst/>
              </a:rPr>
            </a:br>
            <a:endParaRPr lang="en-IN" sz="2800" dirty="0"/>
          </a:p>
        </p:txBody>
      </p:sp>
    </p:spTree>
    <p:extLst>
      <p:ext uri="{BB962C8B-B14F-4D97-AF65-F5344CB8AC3E}">
        <p14:creationId xmlns:p14="http://schemas.microsoft.com/office/powerpoint/2010/main" val="3816816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5C41D081-08F5-0ABD-7837-D9EBA12B847F}"/>
              </a:ext>
            </a:extLst>
          </p:cNvPr>
          <p:cNvSpPr>
            <a:spLocks noGrp="1"/>
          </p:cNvSpPr>
          <p:nvPr>
            <p:ph type="ctrTitle"/>
          </p:nvPr>
        </p:nvSpPr>
        <p:spPr>
          <a:xfrm>
            <a:off x="0" y="0"/>
            <a:ext cx="12192000" cy="6858000"/>
          </a:xfrm>
          <a:solidFill>
            <a:schemeClr val="accent4">
              <a:lumMod val="20000"/>
              <a:lumOff val="80000"/>
            </a:schemeClr>
          </a:solidFill>
          <a:effectLst>
            <a:outerShdw blurRad="50800" dist="38100" dir="2700000" algn="tl" rotWithShape="0">
              <a:prstClr val="black">
                <a:alpha val="40000"/>
              </a:prstClr>
            </a:outerShdw>
          </a:effectLst>
        </p:spPr>
        <p:txBody>
          <a:bodyPr>
            <a:noAutofit/>
          </a:bodyPr>
          <a:lstStyle/>
          <a:p>
            <a:pPr algn="l" fontAlgn="auto"/>
            <a:r>
              <a:rPr lang="en-US" sz="2000" b="1" i="0" dirty="0">
                <a:effectLst/>
                <a:highlight>
                  <a:srgbClr val="00FFFF"/>
                </a:highlight>
                <a:latin typeface="-apple-system"/>
              </a:rPr>
              <a:t>Examples of Problem Statements in Data Science</a:t>
            </a:r>
            <a:r>
              <a:rPr lang="en-US" sz="2000" b="1" i="0" dirty="0">
                <a:effectLst/>
                <a:latin typeface="-apple-system"/>
              </a:rPr>
              <a:t/>
            </a:r>
            <a:br>
              <a:rPr lang="en-US" sz="2000" b="1" i="0" dirty="0">
                <a:effectLst/>
                <a:latin typeface="-apple-system"/>
              </a:rPr>
            </a:br>
            <a:r>
              <a:rPr lang="en-US" sz="2000" b="0" i="0" dirty="0">
                <a:effectLst/>
                <a:latin typeface="-apple-system"/>
              </a:rPr>
              <a:t/>
            </a:r>
            <a:br>
              <a:rPr lang="en-US" sz="2000" b="0" i="0" dirty="0">
                <a:effectLst/>
                <a:latin typeface="-apple-system"/>
              </a:rPr>
            </a:br>
            <a:r>
              <a:rPr lang="en-US" sz="2000" b="1" i="0" dirty="0">
                <a:effectLst/>
                <a:highlight>
                  <a:srgbClr val="C0C0C0"/>
                </a:highlight>
                <a:latin typeface="-apple-system"/>
              </a:rPr>
              <a:t>Example 1: Business Problem</a:t>
            </a:r>
            <a:br>
              <a:rPr lang="en-US" sz="2000" b="1" i="0" dirty="0">
                <a:effectLst/>
                <a:highlight>
                  <a:srgbClr val="C0C0C0"/>
                </a:highlight>
                <a:latin typeface="-apple-system"/>
              </a:rPr>
            </a:br>
            <a:r>
              <a:rPr lang="en-US" sz="2000" b="1" i="0" dirty="0">
                <a:effectLst/>
                <a:highlight>
                  <a:srgbClr val="C0C0C0"/>
                </a:highlight>
                <a:latin typeface="-apple-system"/>
              </a:rPr>
              <a:t/>
            </a:r>
            <a:br>
              <a:rPr lang="en-US" sz="2000" b="1" i="0" dirty="0">
                <a:effectLst/>
                <a:highlight>
                  <a:srgbClr val="C0C0C0"/>
                </a:highlight>
                <a:latin typeface="-apple-system"/>
              </a:rPr>
            </a:br>
            <a:r>
              <a:rPr lang="en-US" sz="2000" b="1" i="0" u="sng" dirty="0" err="1">
                <a:solidFill>
                  <a:srgbClr val="0070C0"/>
                </a:solidFill>
                <a:effectLst/>
                <a:latin typeface="-apple-system"/>
              </a:rPr>
              <a:t>Problem</a:t>
            </a:r>
            <a:r>
              <a:rPr lang="en-US" sz="2000" b="1" i="0" u="sng" dirty="0">
                <a:solidFill>
                  <a:srgbClr val="0070C0"/>
                </a:solidFill>
                <a:effectLst/>
                <a:latin typeface="-apple-system"/>
              </a:rPr>
              <a:t> Statement</a:t>
            </a:r>
            <a:r>
              <a:rPr lang="en-US" sz="2000" b="0" i="0" dirty="0">
                <a:effectLst/>
                <a:latin typeface="-apple-system"/>
              </a:rPr>
              <a:t>: Increase sales by identifying the factors that influence customer behavior.</a:t>
            </a:r>
            <a:br>
              <a:rPr lang="en-US" sz="2000" b="0" i="0" dirty="0">
                <a:effectLst/>
                <a:latin typeface="-apple-system"/>
              </a:rPr>
            </a:br>
            <a:r>
              <a:rPr lang="en-US" sz="2000" b="1" i="0" dirty="0">
                <a:effectLst/>
                <a:latin typeface="-apple-system"/>
              </a:rPr>
              <a:t>Objectives</a:t>
            </a:r>
            <a:r>
              <a:rPr lang="en-US" sz="2000" b="0" i="0" dirty="0">
                <a:effectLst/>
                <a:latin typeface="-apple-system"/>
              </a:rPr>
              <a:t>:</a:t>
            </a:r>
            <a:br>
              <a:rPr lang="en-US" sz="2000" b="0" i="0" dirty="0">
                <a:effectLst/>
                <a:latin typeface="-apple-system"/>
              </a:rPr>
            </a:br>
            <a:r>
              <a:rPr lang="en-US" sz="2000" dirty="0">
                <a:effectLst/>
              </a:rPr>
              <a:t>Identify the top three factors that influence customer behavior.</a:t>
            </a:r>
            <a:br>
              <a:rPr lang="en-US" sz="2000" dirty="0">
                <a:effectLst/>
              </a:rPr>
            </a:br>
            <a:r>
              <a:rPr lang="en-US" sz="2000" dirty="0">
                <a:effectLst/>
              </a:rPr>
              <a:t>Develop a plan to address the identified factors.</a:t>
            </a:r>
            <a:br>
              <a:rPr lang="en-US" sz="2000" dirty="0">
                <a:effectLst/>
              </a:rPr>
            </a:br>
            <a:r>
              <a:rPr lang="en-US" sz="2000" b="1" i="0" dirty="0">
                <a:effectLst/>
                <a:latin typeface="-apple-system"/>
              </a:rPr>
              <a:t>Scope</a:t>
            </a:r>
            <a:r>
              <a:rPr lang="en-US" sz="2000" b="0" i="0" dirty="0">
                <a:effectLst/>
                <a:latin typeface="-apple-system"/>
              </a:rPr>
              <a:t>:</a:t>
            </a:r>
            <a:br>
              <a:rPr lang="en-US" sz="2000" b="0" i="0" dirty="0">
                <a:effectLst/>
                <a:latin typeface="-apple-system"/>
              </a:rPr>
            </a:br>
            <a:r>
              <a:rPr lang="en-US" sz="2000" dirty="0">
                <a:effectLst/>
              </a:rPr>
              <a:t>Use sales data, customer data, and marketing data from the past year.</a:t>
            </a:r>
            <a:br>
              <a:rPr lang="en-US" sz="2000" dirty="0">
                <a:effectLst/>
              </a:rPr>
            </a:br>
            <a:r>
              <a:rPr lang="en-US" sz="2000" dirty="0">
                <a:effectLst/>
              </a:rPr>
              <a:t>Focus on a specific product line.</a:t>
            </a:r>
            <a:br>
              <a:rPr lang="en-US" sz="2000" dirty="0">
                <a:effectLst/>
              </a:rPr>
            </a:br>
            <a:r>
              <a:rPr lang="en-US" sz="2000" b="1" i="0" dirty="0">
                <a:effectLst/>
                <a:latin typeface="-apple-system"/>
              </a:rPr>
              <a:t>Data</a:t>
            </a:r>
            <a:r>
              <a:rPr lang="en-US" sz="2000" b="0" i="0" dirty="0">
                <a:effectLst/>
                <a:latin typeface="-apple-system"/>
              </a:rPr>
              <a:t>:</a:t>
            </a:r>
            <a:br>
              <a:rPr lang="en-US" sz="2000" b="0" i="0" dirty="0">
                <a:effectLst/>
                <a:latin typeface="-apple-system"/>
              </a:rPr>
            </a:br>
            <a:r>
              <a:rPr lang="en-US" sz="2000" dirty="0">
                <a:effectLst/>
              </a:rPr>
              <a:t>Sales data</a:t>
            </a:r>
            <a:br>
              <a:rPr lang="en-US" sz="2000" dirty="0">
                <a:effectLst/>
              </a:rPr>
            </a:br>
            <a:r>
              <a:rPr lang="en-US" sz="2000" dirty="0">
                <a:effectLst/>
              </a:rPr>
              <a:t>Customer data</a:t>
            </a:r>
            <a:br>
              <a:rPr lang="en-US" sz="2000" dirty="0">
                <a:effectLst/>
              </a:rPr>
            </a:br>
            <a:r>
              <a:rPr lang="en-US" sz="2000" dirty="0">
                <a:effectLst/>
              </a:rPr>
              <a:t>Marketing data</a:t>
            </a:r>
            <a:br>
              <a:rPr lang="en-US" sz="2000" dirty="0">
                <a:effectLst/>
              </a:rPr>
            </a:br>
            <a:r>
              <a:rPr lang="en-US" sz="2000" b="1" i="0" dirty="0">
                <a:effectLst/>
                <a:latin typeface="-apple-system"/>
              </a:rPr>
              <a:t>Methods and Tools</a:t>
            </a:r>
            <a:r>
              <a:rPr lang="en-US" sz="2000" b="0" i="0" dirty="0">
                <a:effectLst/>
                <a:latin typeface="-apple-system"/>
              </a:rPr>
              <a:t>:</a:t>
            </a:r>
            <a:br>
              <a:rPr lang="en-US" sz="2000" b="0" i="0" dirty="0">
                <a:effectLst/>
                <a:latin typeface="-apple-system"/>
              </a:rPr>
            </a:br>
            <a:r>
              <a:rPr lang="en-US" sz="2000" dirty="0">
                <a:effectLst/>
              </a:rPr>
              <a:t>Regression analysis</a:t>
            </a:r>
            <a:br>
              <a:rPr lang="en-US" sz="2000" dirty="0">
                <a:effectLst/>
              </a:rPr>
            </a:br>
            <a:r>
              <a:rPr lang="en-US" sz="2000" dirty="0">
                <a:effectLst/>
              </a:rPr>
              <a:t>Decision tree analysis</a:t>
            </a:r>
            <a:br>
              <a:rPr lang="en-US" sz="2000" dirty="0">
                <a:effectLst/>
              </a:rPr>
            </a:br>
            <a:r>
              <a:rPr lang="en-US" sz="2000" dirty="0">
                <a:effectLst/>
              </a:rPr>
              <a:t>Customer segmentation</a:t>
            </a:r>
            <a:br>
              <a:rPr lang="en-US" sz="2000" dirty="0">
                <a:effectLst/>
              </a:rPr>
            </a:br>
            <a:r>
              <a:rPr lang="en-US" sz="2000" b="1" i="0" dirty="0">
                <a:effectLst/>
                <a:latin typeface="-apple-system"/>
              </a:rPr>
              <a:t>Success Metrics</a:t>
            </a:r>
            <a:r>
              <a:rPr lang="en-US" sz="2000" b="0" i="0" dirty="0">
                <a:effectLst/>
                <a:latin typeface="-apple-system"/>
              </a:rPr>
              <a:t>:</a:t>
            </a:r>
            <a:br>
              <a:rPr lang="en-US" sz="2000" b="0" i="0" dirty="0">
                <a:effectLst/>
                <a:latin typeface="-apple-system"/>
              </a:rPr>
            </a:br>
            <a:r>
              <a:rPr lang="en-US" sz="2000" dirty="0">
                <a:effectLst/>
              </a:rPr>
              <a:t>Increase in revenue after implementing the plan.</a:t>
            </a:r>
            <a:br>
              <a:rPr lang="en-US" sz="2000" dirty="0">
                <a:effectLst/>
              </a:rPr>
            </a:br>
            <a:endParaRPr lang="en-IN" sz="2000" dirty="0"/>
          </a:p>
        </p:txBody>
      </p:sp>
    </p:spTree>
    <p:extLst>
      <p:ext uri="{BB962C8B-B14F-4D97-AF65-F5344CB8AC3E}">
        <p14:creationId xmlns:p14="http://schemas.microsoft.com/office/powerpoint/2010/main" val="35506505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5C41D081-08F5-0ABD-7837-D9EBA12B847F}"/>
              </a:ext>
            </a:extLst>
          </p:cNvPr>
          <p:cNvSpPr>
            <a:spLocks noGrp="1"/>
          </p:cNvSpPr>
          <p:nvPr>
            <p:ph type="ctrTitle"/>
          </p:nvPr>
        </p:nvSpPr>
        <p:spPr>
          <a:xfrm>
            <a:off x="0" y="0"/>
            <a:ext cx="12192000" cy="6858000"/>
          </a:xfrm>
          <a:solidFill>
            <a:schemeClr val="accent5">
              <a:lumMod val="20000"/>
              <a:lumOff val="80000"/>
            </a:schemeClr>
          </a:solidFill>
          <a:effectLst>
            <a:outerShdw blurRad="50800" dist="38100" dir="8100000" algn="tr" rotWithShape="0">
              <a:prstClr val="black">
                <a:alpha val="40000"/>
              </a:prstClr>
            </a:outerShdw>
          </a:effectLst>
        </p:spPr>
        <p:txBody>
          <a:bodyPr>
            <a:noAutofit/>
          </a:bodyPr>
          <a:lstStyle/>
          <a:p>
            <a:pPr algn="l" fontAlgn="auto"/>
            <a:r>
              <a:rPr lang="en-US" sz="2000" b="1" i="0" dirty="0">
                <a:effectLst/>
                <a:latin typeface="-apple-system"/>
              </a:rPr>
              <a:t>Example 2: Research Question</a:t>
            </a:r>
            <a:br>
              <a:rPr lang="en-US" sz="2000" b="1" i="0" dirty="0">
                <a:effectLst/>
                <a:latin typeface="-apple-system"/>
              </a:rPr>
            </a:br>
            <a:r>
              <a:rPr lang="en-US" sz="2000" b="1" i="0" dirty="0">
                <a:effectLst/>
                <a:latin typeface="-apple-system"/>
              </a:rPr>
              <a:t/>
            </a:r>
            <a:br>
              <a:rPr lang="en-US" sz="2000" b="1" i="0" dirty="0">
                <a:effectLst/>
                <a:latin typeface="-apple-system"/>
              </a:rPr>
            </a:br>
            <a:r>
              <a:rPr lang="en-US" sz="2000" b="1" i="0" dirty="0">
                <a:effectLst/>
                <a:latin typeface="-apple-system"/>
              </a:rPr>
              <a:t/>
            </a:r>
            <a:br>
              <a:rPr lang="en-US" sz="2000" b="1" i="0" dirty="0">
                <a:effectLst/>
                <a:latin typeface="-apple-system"/>
              </a:rPr>
            </a:br>
            <a:r>
              <a:rPr lang="en-US" sz="2000" b="1" u="sng" dirty="0">
                <a:solidFill>
                  <a:srgbClr val="0070C0"/>
                </a:solidFill>
                <a:latin typeface="-apple-system"/>
              </a:rPr>
              <a:t>Problem Statement</a:t>
            </a:r>
            <a:r>
              <a:rPr lang="en-US" sz="2000" b="0" i="0" dirty="0">
                <a:effectLst/>
                <a:latin typeface="-apple-system"/>
              </a:rPr>
              <a:t>: Understand the relationship between air pollution and respiratory diseases.</a:t>
            </a:r>
            <a:br>
              <a:rPr lang="en-US" sz="2000" b="0" i="0" dirty="0">
                <a:effectLst/>
                <a:latin typeface="-apple-system"/>
              </a:rPr>
            </a:br>
            <a:r>
              <a:rPr lang="en-US" sz="2000" b="0" i="0" dirty="0">
                <a:effectLst/>
                <a:latin typeface="-apple-system"/>
              </a:rPr>
              <a:t/>
            </a:r>
            <a:br>
              <a:rPr lang="en-US" sz="2000" b="0" i="0" dirty="0">
                <a:effectLst/>
                <a:latin typeface="-apple-system"/>
              </a:rPr>
            </a:br>
            <a:r>
              <a:rPr lang="en-US" sz="2000" b="1" dirty="0">
                <a:latin typeface="-apple-system"/>
              </a:rPr>
              <a:t>Objectives</a:t>
            </a:r>
            <a:r>
              <a:rPr lang="en-US" sz="2000" b="0" i="0" dirty="0">
                <a:effectLst/>
                <a:latin typeface="-apple-system"/>
              </a:rPr>
              <a:t>:</a:t>
            </a:r>
            <a:br>
              <a:rPr lang="en-US" sz="2000" b="0" i="0" dirty="0">
                <a:effectLst/>
                <a:latin typeface="-apple-system"/>
              </a:rPr>
            </a:br>
            <a:r>
              <a:rPr lang="en-US" sz="2000" dirty="0">
                <a:effectLst/>
              </a:rPr>
              <a:t>Determine the correlation between air pollution and respiratory diseases.</a:t>
            </a:r>
            <a:br>
              <a:rPr lang="en-US" sz="2000" dirty="0">
                <a:effectLst/>
              </a:rPr>
            </a:br>
            <a:r>
              <a:rPr lang="en-US" sz="2000" dirty="0">
                <a:effectLst/>
              </a:rPr>
              <a:t>Identify the most affected population group.</a:t>
            </a:r>
            <a:br>
              <a:rPr lang="en-US" sz="2000" dirty="0">
                <a:effectLst/>
              </a:rPr>
            </a:br>
            <a:r>
              <a:rPr lang="en-US" sz="2000" dirty="0">
                <a:effectLst/>
              </a:rPr>
              <a:t>Develop a plan to reduce air pollution.</a:t>
            </a:r>
            <a:br>
              <a:rPr lang="en-US" sz="2000" dirty="0">
                <a:effectLst/>
              </a:rPr>
            </a:br>
            <a:r>
              <a:rPr lang="en-US" sz="2000" b="1" dirty="0">
                <a:latin typeface="-apple-system"/>
              </a:rPr>
              <a:t>Scope</a:t>
            </a:r>
            <a:r>
              <a:rPr lang="en-US" sz="2000" b="0" i="0" dirty="0">
                <a:effectLst/>
                <a:latin typeface="-apple-system"/>
              </a:rPr>
              <a:t>:</a:t>
            </a:r>
            <a:br>
              <a:rPr lang="en-US" sz="2000" b="0" i="0" dirty="0">
                <a:effectLst/>
                <a:latin typeface="-apple-system"/>
              </a:rPr>
            </a:br>
            <a:r>
              <a:rPr lang="en-US" sz="2000" dirty="0">
                <a:effectLst/>
              </a:rPr>
              <a:t>Use air pollution data and hospital admission data from the past five years.</a:t>
            </a:r>
            <a:br>
              <a:rPr lang="en-US" sz="2000" dirty="0">
                <a:effectLst/>
              </a:rPr>
            </a:br>
            <a:r>
              <a:rPr lang="en-US" sz="2000" dirty="0">
                <a:effectLst/>
              </a:rPr>
              <a:t>Focus on a specific geographical area.</a:t>
            </a:r>
            <a:br>
              <a:rPr lang="en-US" sz="2000" dirty="0">
                <a:effectLst/>
              </a:rPr>
            </a:br>
            <a:r>
              <a:rPr lang="en-US" sz="2000" b="1" dirty="0">
                <a:latin typeface="-apple-system"/>
              </a:rPr>
              <a:t>Data</a:t>
            </a:r>
            <a:r>
              <a:rPr lang="en-US" sz="2000" b="0" i="0" dirty="0">
                <a:effectLst/>
                <a:latin typeface="-apple-system"/>
              </a:rPr>
              <a:t>:</a:t>
            </a:r>
            <a:br>
              <a:rPr lang="en-US" sz="2000" b="0" i="0" dirty="0">
                <a:effectLst/>
                <a:latin typeface="-apple-system"/>
              </a:rPr>
            </a:br>
            <a:r>
              <a:rPr lang="en-US" sz="2000" dirty="0">
                <a:effectLst/>
              </a:rPr>
              <a:t>Air pollution data</a:t>
            </a:r>
            <a:br>
              <a:rPr lang="en-US" sz="2000" dirty="0">
                <a:effectLst/>
              </a:rPr>
            </a:br>
            <a:r>
              <a:rPr lang="en-US" sz="2000" dirty="0">
                <a:effectLst/>
              </a:rPr>
              <a:t>Hospital admission data</a:t>
            </a:r>
            <a:br>
              <a:rPr lang="en-US" sz="2000" dirty="0">
                <a:effectLst/>
              </a:rPr>
            </a:br>
            <a:r>
              <a:rPr lang="en-US" sz="2000" b="1" dirty="0">
                <a:latin typeface="-apple-system"/>
              </a:rPr>
              <a:t>Methods</a:t>
            </a:r>
            <a:r>
              <a:rPr lang="en-US" sz="2000" b="0" i="0" dirty="0">
                <a:effectLst/>
                <a:latin typeface="-apple-system"/>
              </a:rPr>
              <a:t> </a:t>
            </a:r>
            <a:r>
              <a:rPr lang="en-US" sz="2000" b="1" dirty="0">
                <a:latin typeface="-apple-system"/>
              </a:rPr>
              <a:t>and</a:t>
            </a:r>
            <a:r>
              <a:rPr lang="en-US" sz="2000" b="0" i="0" dirty="0">
                <a:effectLst/>
                <a:latin typeface="-apple-system"/>
              </a:rPr>
              <a:t> </a:t>
            </a:r>
            <a:r>
              <a:rPr lang="en-US" sz="2000" b="1" dirty="0">
                <a:latin typeface="-apple-system"/>
              </a:rPr>
              <a:t>Tools</a:t>
            </a:r>
            <a:r>
              <a:rPr lang="en-US" sz="2000" b="0" i="0" dirty="0">
                <a:effectLst/>
                <a:latin typeface="-apple-system"/>
              </a:rPr>
              <a:t>:</a:t>
            </a:r>
            <a:br>
              <a:rPr lang="en-US" sz="2000" b="0" i="0" dirty="0">
                <a:effectLst/>
                <a:latin typeface="-apple-system"/>
              </a:rPr>
            </a:br>
            <a:r>
              <a:rPr lang="en-US" sz="2000" dirty="0">
                <a:effectLst/>
              </a:rPr>
              <a:t>Correlation analysis</a:t>
            </a:r>
            <a:br>
              <a:rPr lang="en-US" sz="2000" dirty="0">
                <a:effectLst/>
              </a:rPr>
            </a:br>
            <a:r>
              <a:rPr lang="en-US" sz="2000" dirty="0">
                <a:effectLst/>
              </a:rPr>
              <a:t>Regression analysis</a:t>
            </a:r>
            <a:br>
              <a:rPr lang="en-US" sz="2000" dirty="0">
                <a:effectLst/>
              </a:rPr>
            </a:br>
            <a:r>
              <a:rPr lang="en-US" sz="2000" dirty="0">
                <a:effectLst/>
              </a:rPr>
              <a:t>Geographic Information System (GIS)</a:t>
            </a:r>
            <a:br>
              <a:rPr lang="en-US" sz="2000" dirty="0">
                <a:effectLst/>
              </a:rPr>
            </a:br>
            <a:r>
              <a:rPr lang="en-US" sz="2000" b="1" dirty="0">
                <a:latin typeface="-apple-system"/>
              </a:rPr>
              <a:t>Success</a:t>
            </a:r>
            <a:r>
              <a:rPr lang="en-US" sz="2000" b="0" i="0" dirty="0">
                <a:effectLst/>
                <a:latin typeface="-apple-system"/>
              </a:rPr>
              <a:t> </a:t>
            </a:r>
            <a:r>
              <a:rPr lang="en-US" sz="2000" b="1" dirty="0">
                <a:latin typeface="-apple-system"/>
              </a:rPr>
              <a:t>Metrics</a:t>
            </a:r>
            <a:r>
              <a:rPr lang="en-US" sz="2000" b="0" i="0" dirty="0">
                <a:effectLst/>
                <a:latin typeface="-apple-system"/>
              </a:rPr>
              <a:t>:</a:t>
            </a:r>
            <a:br>
              <a:rPr lang="en-US" sz="2000" b="0" i="0" dirty="0">
                <a:effectLst/>
                <a:latin typeface="-apple-system"/>
              </a:rPr>
            </a:br>
            <a:r>
              <a:rPr lang="en-US" sz="2000" dirty="0">
                <a:effectLst/>
              </a:rPr>
              <a:t>Reduction in hospital admissions due to respiratory diseases after implementing the plan.</a:t>
            </a:r>
            <a:br>
              <a:rPr lang="en-US" sz="2000" dirty="0">
                <a:effectLst/>
              </a:rPr>
            </a:br>
            <a:endParaRPr lang="en-IN" sz="2000" dirty="0"/>
          </a:p>
        </p:txBody>
      </p:sp>
    </p:spTree>
    <p:extLst>
      <p:ext uri="{BB962C8B-B14F-4D97-AF65-F5344CB8AC3E}">
        <p14:creationId xmlns:p14="http://schemas.microsoft.com/office/powerpoint/2010/main" val="1665784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7DB7D034-6D0E-1CD3-5946-A23425024E05}"/>
              </a:ext>
            </a:extLst>
          </p:cNvPr>
          <p:cNvSpPr>
            <a:spLocks noGrp="1"/>
          </p:cNvSpPr>
          <p:nvPr>
            <p:ph type="ctrTitle"/>
          </p:nvPr>
        </p:nvSpPr>
        <p:spPr>
          <a:xfrm>
            <a:off x="0" y="0"/>
            <a:ext cx="12192000" cy="6858000"/>
          </a:xfrm>
          <a:solidFill>
            <a:schemeClr val="accent6">
              <a:lumMod val="40000"/>
              <a:lumOff val="60000"/>
            </a:schemeClr>
          </a:solidFill>
          <a:effectLst>
            <a:outerShdw blurRad="50800" dist="38100" algn="l" rotWithShape="0">
              <a:prstClr val="black">
                <a:alpha val="40000"/>
              </a:prstClr>
            </a:outerShdw>
          </a:effectLst>
        </p:spPr>
        <p:txBody>
          <a:bodyPr>
            <a:normAutofit/>
          </a:bodyPr>
          <a:lstStyle/>
          <a:p>
            <a:pPr algn="r" fontAlgn="auto"/>
            <a:r>
              <a:rPr lang="en-US" sz="2800" b="1" i="0" dirty="0">
                <a:effectLst/>
                <a:latin typeface="-apple-system"/>
              </a:rPr>
              <a:t>Conclusion</a:t>
            </a:r>
            <a:br>
              <a:rPr lang="en-US" sz="2800" b="1" i="0" dirty="0">
                <a:effectLst/>
                <a:latin typeface="-apple-system"/>
              </a:rPr>
            </a:br>
            <a:r>
              <a:rPr lang="en-US" sz="2800" b="0" i="0" dirty="0">
                <a:effectLst/>
                <a:latin typeface="-apple-system"/>
              </a:rPr>
              <a:t>Defining a problem statement is a crucial step in any data science project. It sets the direction for the analysis, guides the selection of appropriate methods and tools, and helps to measure the success of the project. </a:t>
            </a:r>
            <a:br>
              <a:rPr lang="en-US" sz="2800" b="0" i="0" dirty="0">
                <a:effectLst/>
                <a:latin typeface="-apple-system"/>
              </a:rPr>
            </a:br>
            <a:r>
              <a:rPr lang="en-US" sz="2800" b="0" i="0" dirty="0">
                <a:effectLst/>
                <a:latin typeface="-apple-system"/>
              </a:rPr>
              <a:t/>
            </a:r>
            <a:br>
              <a:rPr lang="en-US" sz="2800" b="0" i="0" dirty="0">
                <a:effectLst/>
                <a:latin typeface="-apple-system"/>
              </a:rPr>
            </a:br>
            <a:r>
              <a:rPr lang="en-US" sz="2800" b="0" i="0" dirty="0">
                <a:effectLst/>
                <a:latin typeface="-apple-system"/>
              </a:rPr>
              <a:t>By following the steps outlined in this tutorial and using the examples provided, data scientists can define clear problem statements that will lead to successful data science projects.</a:t>
            </a:r>
            <a:br>
              <a:rPr lang="en-US" sz="2800" b="0" i="0" dirty="0">
                <a:effectLst/>
                <a:latin typeface="-apple-system"/>
              </a:rPr>
            </a:br>
            <a:endParaRPr lang="en-IN" sz="2800" dirty="0"/>
          </a:p>
        </p:txBody>
      </p:sp>
    </p:spTree>
    <p:extLst>
      <p:ext uri="{BB962C8B-B14F-4D97-AF65-F5344CB8AC3E}">
        <p14:creationId xmlns:p14="http://schemas.microsoft.com/office/powerpoint/2010/main" val="13292841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24</Words>
  <Application>Microsoft Office PowerPoint</Application>
  <PresentationFormat>Widescreen</PresentationFormat>
  <Paragraphs>5</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-apple-system</vt:lpstr>
      <vt:lpstr>Arial</vt:lpstr>
      <vt:lpstr>Calibri</vt:lpstr>
      <vt:lpstr>Calibri Light</vt:lpstr>
      <vt:lpstr>Office Theme</vt:lpstr>
      <vt:lpstr>Problem Statement with Examples</vt:lpstr>
      <vt:lpstr>Why is a Problem Statement Important?  A problem statement is crucial because, it: Defines the objectives of the project Sets the scope of the project Provides a clear direction for the analysis Helps to focus on the relevant data Guides the selection of appropriate methods and tools Helps to measure the success of the project </vt:lpstr>
      <vt:lpstr>Examples of Problem Statements in Data Science  Example 1: Business Problem  Problem Statement: Increase sales by identifying the factors that influence customer behavior. Objectives: Identify the top three factors that influence customer behavior. Develop a plan to address the identified factors. Scope: Use sales data, customer data, and marketing data from the past year. Focus on a specific product line. Data: Sales data Customer data Marketing data Methods and Tools: Regression analysis Decision tree analysis Customer segmentation Success Metrics: Increase in revenue after implementing the plan. </vt:lpstr>
      <vt:lpstr>Example 2: Research Question   Problem Statement: Understand the relationship between air pollution and respiratory diseases.  Objectives: Determine the correlation between air pollution and respiratory diseases. Identify the most affected population group. Develop a plan to reduce air pollution. Scope: Use air pollution data and hospital admission data from the past five years. Focus on a specific geographical area. Data: Air pollution data Hospital admission data Methods and Tools: Correlation analysis Regression analysis Geographic Information System (GIS) Success Metrics: Reduction in hospital admissions due to respiratory diseases after implementing the plan. </vt:lpstr>
      <vt:lpstr>Conclusion Defining a problem statement is a crucial step in any data science project. It sets the direction for the analysis, guides the selection of appropriate methods and tools, and helps to measure the success of the project.   By following the steps outlined in this tutorial and using the examples provided, data scientists can define clear problem statements that will lead to successful data science projects.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Statement with Examples</dc:title>
  <dc:creator>Sam Warsolkar</dc:creator>
  <cp:lastModifiedBy>hp</cp:lastModifiedBy>
  <cp:revision>2</cp:revision>
  <dcterms:created xsi:type="dcterms:W3CDTF">2023-09-14T17:51:57Z</dcterms:created>
  <dcterms:modified xsi:type="dcterms:W3CDTF">2023-09-16T04:17:43Z</dcterms:modified>
</cp:coreProperties>
</file>